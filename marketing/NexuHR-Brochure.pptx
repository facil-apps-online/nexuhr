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9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7.png"/><Relationship Id="rId11" Type="http://schemas.openxmlformats.org/officeDocument/2006/relationships/image" Target="../media/image12.png"/><Relationship Id="rId12" Type="http://schemas.openxmlformats.org/officeDocument/2006/relationships/image" Target="../media/image13.png"/><Relationship Id="rId13" Type="http://schemas.openxmlformats.org/officeDocument/2006/relationships/image" Target="../media/image14.png"/><Relationship Id="rId14" Type="http://schemas.openxmlformats.org/officeDocument/2006/relationships/image" Target="../media/image15.png"/><Relationship Id="rId15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A2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exurh-icon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15468"/>
            <a:ext cx="512064" cy="5120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3000" y="0"/>
            <a:ext cx="274320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Segoe UI Semibold"/>
              </a:rPr>
              <a:t>NexuHR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0"/>
            <a:ext cx="5285232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C9E2DE"/>
                </a:solidFill>
                <a:latin typeface="Segoe UI"/>
              </a:rPr>
              <a:t>Gestión integral de Recursos Humanos y SG-SST, en la nube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5806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9303D"/>
                </a:solidFill>
                <a:latin typeface="Segoe UI"/>
              </a:rPr>
              <a:t>Potencia el talento de tu empresa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5623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707885"/>
                </a:solidFill>
                <a:latin typeface="Segoe UI"/>
              </a:rPr>
              <a:t>La plataforma integral de RR. HH. diseñada para simplificar tu gestión, centralizar la nómina y mantener a tu equipo conectado — con un portal para que cada colaborador se autogestione.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200400"/>
            <a:ext cx="1828800" cy="1371600"/>
          </a:xfrm>
          <a:prstGeom prst="roundRect">
            <a:avLst>
              <a:gd name="adj" fmla="val 10000"/>
            </a:avLst>
          </a:prstGeom>
          <a:solidFill>
            <a:srgbClr val="F2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con_emplea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3328416"/>
            <a:ext cx="365760" cy="3657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76656" y="3767328"/>
            <a:ext cx="15727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29303D"/>
                </a:solidFill>
                <a:latin typeface="Segoe UI"/>
              </a:rPr>
              <a:t>Gestión de Empleados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4096512"/>
            <a:ext cx="1591056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0" i="0">
                <a:solidFill>
                  <a:srgbClr val="707885"/>
                </a:solidFill>
                <a:latin typeface="Segoe UI"/>
              </a:rPr>
              <a:t>Centraliza la información de tu equipo, contratos, documentos y datos personales en un solo lugar seguro.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23744" y="3200400"/>
            <a:ext cx="1828800" cy="1371600"/>
          </a:xfrm>
          <a:prstGeom prst="roundRect">
            <a:avLst>
              <a:gd name="adj" fmla="val 10000"/>
            </a:avLst>
          </a:prstGeom>
          <a:solidFill>
            <a:srgbClr val="F2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con_nomin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1760" y="3328416"/>
            <a:ext cx="365760" cy="3657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651760" y="3767328"/>
            <a:ext cx="15727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29303D"/>
                </a:solidFill>
                <a:latin typeface="Segoe UI"/>
              </a:rPr>
              <a:t>Nómina e Incapacidades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4096512"/>
            <a:ext cx="1591056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0" i="0">
                <a:solidFill>
                  <a:srgbClr val="707885"/>
                </a:solidFill>
                <a:latin typeface="Segoe UI"/>
              </a:rPr>
              <a:t>Administra los desprendibles de pago y lleva un control riguroso de ausencias y descansos médicos.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98848" y="3200400"/>
            <a:ext cx="1828800" cy="1371600"/>
          </a:xfrm>
          <a:prstGeom prst="roundRect">
            <a:avLst>
              <a:gd name="adj" fmla="val 10000"/>
            </a:avLst>
          </a:prstGeom>
          <a:solidFill>
            <a:srgbClr val="F2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evaluacion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6864" y="3328416"/>
            <a:ext cx="365760" cy="3657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626864" y="3767328"/>
            <a:ext cx="15727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29303D"/>
                </a:solidFill>
                <a:latin typeface="Segoe UI"/>
              </a:rPr>
              <a:t>Evaluaciones de Desempeño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6864" y="4096512"/>
            <a:ext cx="1591056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0" i="0">
                <a:solidFill>
                  <a:srgbClr val="707885"/>
                </a:solidFill>
                <a:latin typeface="Segoe UI"/>
              </a:rPr>
              <a:t>Configura y aplica evaluaciones periódicas para medir y potenciar el rendimiento de tus colaboradores.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700016"/>
            <a:ext cx="1828800" cy="1371600"/>
          </a:xfrm>
          <a:prstGeom prst="roundRect">
            <a:avLst>
              <a:gd name="adj" fmla="val 10000"/>
            </a:avLst>
          </a:prstGeom>
          <a:solidFill>
            <a:srgbClr val="F2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con_s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" y="4828032"/>
            <a:ext cx="365760" cy="36576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76656" y="5266944"/>
            <a:ext cx="15727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29303D"/>
                </a:solidFill>
                <a:latin typeface="Segoe UI"/>
              </a:rPr>
              <a:t>SST y Exámenes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" y="5596128"/>
            <a:ext cx="1591056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0" i="0">
                <a:solidFill>
                  <a:srgbClr val="707885"/>
                </a:solidFill>
                <a:latin typeface="Segoe UI"/>
              </a:rPr>
              <a:t>Mantén al día el Sistema de Seguridad y Salud en el Trabajo, con exámenes médicos y vigilancias.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523744" y="4700016"/>
            <a:ext cx="1828800" cy="1371600"/>
          </a:xfrm>
          <a:prstGeom prst="roundRect">
            <a:avLst>
              <a:gd name="adj" fmla="val 10000"/>
            </a:avLst>
          </a:prstGeom>
          <a:solidFill>
            <a:srgbClr val="F2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con_port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51760" y="4828032"/>
            <a:ext cx="365760" cy="36576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651760" y="5266944"/>
            <a:ext cx="15727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29303D"/>
                </a:solidFill>
                <a:latin typeface="Segoe UI"/>
              </a:rPr>
              <a:t>Portal del Empleado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1760" y="5596128"/>
            <a:ext cx="1591056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0" i="0">
                <a:solidFill>
                  <a:srgbClr val="707885"/>
                </a:solidFill>
                <a:latin typeface="Segoe UI"/>
              </a:rPr>
              <a:t>Tus colaboradores autogestionan la firma de documentos, consultan sus pagos y realizan capacitaciones.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98848" y="4700016"/>
            <a:ext cx="1828800" cy="1371600"/>
          </a:xfrm>
          <a:prstGeom prst="roundRect">
            <a:avLst>
              <a:gd name="adj" fmla="val 10000"/>
            </a:avLst>
          </a:prstGeom>
          <a:solidFill>
            <a:srgbClr val="F2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con_dotaci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26864" y="4828032"/>
            <a:ext cx="365760" cy="36576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626864" y="5266944"/>
            <a:ext cx="15727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29303D"/>
                </a:solidFill>
                <a:latin typeface="Segoe UI"/>
              </a:rPr>
              <a:t>Control de Dotaciones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26864" y="5596128"/>
            <a:ext cx="1591056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0" i="0">
                <a:solidFill>
                  <a:srgbClr val="707885"/>
                </a:solidFill>
                <a:latin typeface="Segoe UI"/>
              </a:rPr>
              <a:t>Gestiona la entrega de uniformes, herramientas y elementos de protección personal fácilmente.</a:t>
            </a:r>
          </a:p>
        </p:txBody>
      </p:sp>
      <p:pic>
        <p:nvPicPr>
          <p:cNvPr id="33" name="Picture 32" descr="mockup_dashboard_ful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01017" y="1417320"/>
            <a:ext cx="4884798" cy="3429000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6446520" y="5074920"/>
            <a:ext cx="5193792" cy="1051560"/>
          </a:xfrm>
          <a:prstGeom prst="roundRect">
            <a:avLst>
              <a:gd name="adj" fmla="val 12000"/>
            </a:avLst>
          </a:prstGeom>
          <a:solidFill>
            <a:srgbClr val="F2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20840" y="5221224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A9D90"/>
                </a:solidFill>
                <a:latin typeface="Segoe UI"/>
              </a:rPr>
              <a:t>Multi-empresa · Multi-país · 100% en la nube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5586984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9303D"/>
                </a:solidFill>
                <a:latin typeface="Segoe UI"/>
              </a:rPr>
              <a:t>www.nexuhr.pro   ·   WhatsApp +57 311 720 8085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A2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nexurh-icon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556248"/>
            <a:ext cx="219456" cy="219456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13232" y="6473952"/>
            <a:ext cx="2743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 Semibold"/>
              </a:rPr>
              <a:t>NexuHR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6473952"/>
            <a:ext cx="35661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CFE3E0"/>
                </a:solidFill>
                <a:latin typeface="Segoe UI"/>
              </a:rPr>
              <a:t>www.nexuhr.pro   ·   +57 311 720 8085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2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exurh-icon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"/>
            <a:ext cx="512064" cy="5120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3000" y="0"/>
            <a:ext cx="2743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Segoe UI Semibold"/>
              </a:rPr>
              <a:t>NexuHR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0"/>
            <a:ext cx="528523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C9E2DE"/>
                </a:solidFill>
                <a:latin typeface="Segoe UI"/>
              </a:rPr>
              <a:t>Módulos y planes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29303D"/>
                </a:solidFill>
                <a:latin typeface="Segoe UI"/>
              </a:rPr>
              <a:t>Un módulo para cada proceso de RR. HH. y SST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707885"/>
                </a:solidFill>
                <a:latin typeface="Segoe UI"/>
              </a:rPr>
              <a:t>Todo lo que hoy gestionas por separado, integrado en una sola plataforma.</a:t>
            </a:r>
          </a:p>
        </p:txBody>
      </p:sp>
      <p:pic>
        <p:nvPicPr>
          <p:cNvPr id="9" name="Picture 8" descr="icon_emplea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65960"/>
            <a:ext cx="329184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87552" y="1965960"/>
            <a:ext cx="226771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9303D"/>
                </a:solidFill>
                <a:latin typeface="Segoe UI"/>
              </a:rPr>
              <a:t>Empleados</a:t>
            </a:r>
          </a:p>
        </p:txBody>
      </p:sp>
      <p:pic>
        <p:nvPicPr>
          <p:cNvPr id="11" name="Picture 10" descr="icon_nomin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3552" y="1965960"/>
            <a:ext cx="329184" cy="3291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712464" y="1965960"/>
            <a:ext cx="226771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9303D"/>
                </a:solidFill>
                <a:latin typeface="Segoe UI"/>
              </a:rPr>
              <a:t>Nómina</a:t>
            </a:r>
          </a:p>
        </p:txBody>
      </p:sp>
      <p:pic>
        <p:nvPicPr>
          <p:cNvPr id="13" name="Picture 12" descr="icon_incapacidad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8464" y="1965960"/>
            <a:ext cx="329184" cy="3291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37376" y="1965960"/>
            <a:ext cx="226771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9303D"/>
                </a:solidFill>
                <a:latin typeface="Segoe UI"/>
              </a:rPr>
              <a:t>Incapacidades</a:t>
            </a:r>
          </a:p>
        </p:txBody>
      </p:sp>
      <p:pic>
        <p:nvPicPr>
          <p:cNvPr id="15" name="Picture 14" descr="icon_evaluacion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23376" y="1965960"/>
            <a:ext cx="329184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162288" y="1965960"/>
            <a:ext cx="226771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9303D"/>
                </a:solidFill>
                <a:latin typeface="Segoe UI"/>
              </a:rPr>
              <a:t>Evaluaciones</a:t>
            </a:r>
          </a:p>
        </p:txBody>
      </p:sp>
      <p:pic>
        <p:nvPicPr>
          <p:cNvPr id="17" name="Picture 16" descr="icon_ss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2514600"/>
            <a:ext cx="329184" cy="32918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87552" y="2514600"/>
            <a:ext cx="226771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9303D"/>
                </a:solidFill>
                <a:latin typeface="Segoe UI"/>
              </a:rPr>
              <a:t>Exámenes Médicos</a:t>
            </a:r>
          </a:p>
        </p:txBody>
      </p:sp>
      <p:pic>
        <p:nvPicPr>
          <p:cNvPr id="19" name="Picture 18" descr="icon_comite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73552" y="2514600"/>
            <a:ext cx="329184" cy="32918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712464" y="2514600"/>
            <a:ext cx="226771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9303D"/>
                </a:solidFill>
                <a:latin typeface="Segoe UI"/>
              </a:rPr>
              <a:t>Comités</a:t>
            </a:r>
          </a:p>
        </p:txBody>
      </p:sp>
      <p:pic>
        <p:nvPicPr>
          <p:cNvPr id="21" name="Picture 20" descr="icon_curso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98464" y="2514600"/>
            <a:ext cx="329184" cy="32918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437376" y="2514600"/>
            <a:ext cx="226771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9303D"/>
                </a:solidFill>
                <a:latin typeface="Segoe UI"/>
              </a:rPr>
              <a:t>Cursos y Certificaciones</a:t>
            </a:r>
          </a:p>
        </p:txBody>
      </p:sp>
      <p:pic>
        <p:nvPicPr>
          <p:cNvPr id="23" name="Picture 22" descr="icon_dotacio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23376" y="2514600"/>
            <a:ext cx="329184" cy="32918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162288" y="2514600"/>
            <a:ext cx="226771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9303D"/>
                </a:solidFill>
                <a:latin typeface="Segoe UI"/>
              </a:rPr>
              <a:t>Dotación</a:t>
            </a:r>
          </a:p>
        </p:txBody>
      </p:sp>
      <p:pic>
        <p:nvPicPr>
          <p:cNvPr id="25" name="Picture 24" descr="icon_firma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8640" y="3063240"/>
            <a:ext cx="329184" cy="32918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87552" y="3063240"/>
            <a:ext cx="226771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9303D"/>
                </a:solidFill>
                <a:latin typeface="Segoe UI"/>
              </a:rPr>
              <a:t>Centro de Firmas</a:t>
            </a:r>
          </a:p>
        </p:txBody>
      </p:sp>
      <p:pic>
        <p:nvPicPr>
          <p:cNvPr id="27" name="Picture 26" descr="icon_comunicacione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73552" y="3063240"/>
            <a:ext cx="329184" cy="32918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712464" y="3063240"/>
            <a:ext cx="226771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9303D"/>
                </a:solidFill>
                <a:latin typeface="Segoe UI"/>
              </a:rPr>
              <a:t>Comunicaciones</a:t>
            </a:r>
          </a:p>
        </p:txBody>
      </p:sp>
      <p:pic>
        <p:nvPicPr>
          <p:cNvPr id="29" name="Picture 28" descr="icon_activos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98464" y="3063240"/>
            <a:ext cx="329184" cy="32918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437376" y="3063240"/>
            <a:ext cx="226771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9303D"/>
                </a:solidFill>
                <a:latin typeface="Segoe UI"/>
              </a:rPr>
              <a:t>Activos Fijos</a:t>
            </a:r>
          </a:p>
        </p:txBody>
      </p:sp>
      <p:pic>
        <p:nvPicPr>
          <p:cNvPr id="31" name="Picture 30" descr="icon_eventos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723376" y="3063240"/>
            <a:ext cx="329184" cy="32918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162288" y="3063240"/>
            <a:ext cx="226771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9303D"/>
                </a:solidFill>
                <a:latin typeface="Segoe UI"/>
              </a:rPr>
              <a:t>Eventos</a:t>
            </a:r>
          </a:p>
        </p:txBody>
      </p:sp>
      <p:pic>
        <p:nvPicPr>
          <p:cNvPr id="33" name="Picture 32" descr="icon_portal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48640" y="3611880"/>
            <a:ext cx="329184" cy="32918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87552" y="3611880"/>
            <a:ext cx="226771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9303D"/>
                </a:solidFill>
                <a:latin typeface="Segoe UI"/>
              </a:rPr>
              <a:t>Portal del Empleado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44348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9303D"/>
                </a:solidFill>
                <a:latin typeface="Segoe UI"/>
              </a:rPr>
              <a:t>Cómo empezar</a:t>
            </a:r>
          </a:p>
        </p:txBody>
      </p:sp>
      <p:sp>
        <p:nvSpPr>
          <p:cNvPr id="36" name="Oval 35"/>
          <p:cNvSpPr/>
          <p:nvPr/>
        </p:nvSpPr>
        <p:spPr>
          <a:xfrm>
            <a:off x="548640" y="4892040"/>
            <a:ext cx="384048" cy="384048"/>
          </a:xfrm>
          <a:prstGeom prst="ellipse">
            <a:avLst/>
          </a:prstGeom>
          <a:solidFill>
            <a:srgbClr val="2A9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48920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" y="4873752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9303D"/>
                </a:solidFill>
                <a:latin typeface="Segoe UI"/>
              </a:rPr>
              <a:t>Regístrate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8992" y="5193792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07885"/>
                </a:solidFill>
                <a:latin typeface="Segoe UI"/>
              </a:rPr>
              <a:t>Crea tu empresa en minutos, sin instalaciones.</a:t>
            </a:r>
          </a:p>
        </p:txBody>
      </p:sp>
      <p:sp>
        <p:nvSpPr>
          <p:cNvPr id="40" name="Oval 39"/>
          <p:cNvSpPr/>
          <p:nvPr/>
        </p:nvSpPr>
        <p:spPr>
          <a:xfrm>
            <a:off x="4160520" y="4892040"/>
            <a:ext cx="384048" cy="384048"/>
          </a:xfrm>
          <a:prstGeom prst="ellipse">
            <a:avLst/>
          </a:prstGeom>
          <a:solidFill>
            <a:srgbClr val="2A9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60520" y="48920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90872" y="4873752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9303D"/>
                </a:solidFill>
                <a:latin typeface="Segoe UI"/>
              </a:rPr>
              <a:t>Configura tu equipo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90872" y="5193792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07885"/>
                </a:solidFill>
                <a:latin typeface="Segoe UI"/>
              </a:rPr>
              <a:t>Carga empleados, roles y políticas iniciales.</a:t>
            </a:r>
          </a:p>
        </p:txBody>
      </p:sp>
      <p:sp>
        <p:nvSpPr>
          <p:cNvPr id="44" name="Oval 43"/>
          <p:cNvSpPr/>
          <p:nvPr/>
        </p:nvSpPr>
        <p:spPr>
          <a:xfrm>
            <a:off x="7772400" y="4892040"/>
            <a:ext cx="384048" cy="384048"/>
          </a:xfrm>
          <a:prstGeom prst="ellipse">
            <a:avLst/>
          </a:prstGeom>
          <a:solidFill>
            <a:srgbClr val="2A9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0" y="48920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02752" y="4873752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9303D"/>
                </a:solidFill>
                <a:latin typeface="Segoe UI"/>
              </a:rPr>
              <a:t>Gestiona todo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02752" y="5193792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07885"/>
                </a:solidFill>
                <a:latin typeface="Segoe UI"/>
              </a:rPr>
              <a:t>Nómina, SST, evaluaciones y comunicación en un solo lugar.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8640" y="5806440"/>
            <a:ext cx="2788920" cy="502920"/>
          </a:xfrm>
          <a:prstGeom prst="roundRect">
            <a:avLst>
              <a:gd name="adj" fmla="val 50000"/>
            </a:avLst>
          </a:prstGeom>
          <a:solidFill>
            <a:srgbClr val="F5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5806440"/>
            <a:ext cx="2788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A2422"/>
                </a:solidFill>
                <a:latin typeface="Segoe UI"/>
              </a:rPr>
              <a:t>Solicita una demo gratuita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11880" y="5806440"/>
            <a:ext cx="6858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9303D"/>
                </a:solidFill>
                <a:latin typeface="Segoe UI"/>
              </a:rPr>
              <a:t>www.nexuhr.pro   ·   WhatsApp +57 311 720 8085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A2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nexurh-icon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556248"/>
            <a:ext cx="219456" cy="219456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713232" y="6473952"/>
            <a:ext cx="2743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 Semibold"/>
              </a:rPr>
              <a:t>NexuHR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600" y="6473952"/>
            <a:ext cx="35661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CFE3E0"/>
                </a:solidFill>
                <a:latin typeface="Segoe UI"/>
              </a:rPr>
              <a:t>www.nexuhr.pro   ·   +57 311 720 8085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